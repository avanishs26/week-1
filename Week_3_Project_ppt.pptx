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4" r:id="rId8"/>
    <p:sldId id="263"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1330" y="413"/>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530682" y="2653496"/>
            <a:ext cx="7017487" cy="1754326"/>
          </a:xfrm>
          <a:prstGeom prst="rect">
            <a:avLst/>
          </a:prstGeom>
          <a:noFill/>
        </p:spPr>
        <p:txBody>
          <a:bodyPr wrap="square" rtlCol="0">
            <a:spAutoFit/>
          </a:bodyPr>
          <a:lstStyle/>
          <a:p>
            <a:pPr algn="ctr"/>
            <a:r>
              <a:rPr lang="en-US" sz="3600" dirty="0">
                <a:solidFill>
                  <a:schemeClr val="bg1"/>
                </a:solidFill>
              </a:rPr>
              <a:t>Automated Water Quality Monitoring: Algae Bloom Detection using CNN</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5"/>
            <a:ext cx="7016963" cy="7756162"/>
          </a:xfrm>
          <a:prstGeom prst="rect">
            <a:avLst/>
          </a:prstGeom>
          <a:noFill/>
        </p:spPr>
        <p:txBody>
          <a:bodyPr wrap="square">
            <a:spAutoFit/>
          </a:bodyPr>
          <a:lstStyle/>
          <a:p>
            <a:r>
              <a:rPr lang="en-IN" sz="2000" b="1" dirty="0">
                <a:solidFill>
                  <a:srgbClr val="213163"/>
                </a:solidFill>
                <a:latin typeface="Times New Roman" panose="02020603050405020304" pitchFamily="18" charset="0"/>
                <a:cs typeface="Times New Roman" panose="02020603050405020304" pitchFamily="18" charset="0"/>
              </a:rPr>
              <a:t>Learning Objectives </a:t>
            </a:r>
          </a:p>
          <a:p>
            <a:endParaRPr lang="en-IN" sz="2000" b="1" dirty="0">
              <a:solidFill>
                <a:srgbClr val="213163"/>
              </a:solidFill>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understand the fundamentals of Deep Learning and </a:t>
            </a:r>
            <a:r>
              <a:rPr lang="en-US" sz="1800" b="1" dirty="0">
                <a:latin typeface="Times New Roman" panose="02020603050405020304" pitchFamily="18" charset="0"/>
                <a:cs typeface="Times New Roman" panose="02020603050405020304" pitchFamily="18" charset="0"/>
              </a:rPr>
              <a:t>Convolutional Neural Networks (CNNs)</a:t>
            </a:r>
            <a:r>
              <a:rPr lang="en-US" sz="1800" dirty="0">
                <a:latin typeface="Times New Roman" panose="02020603050405020304" pitchFamily="18" charset="0"/>
                <a:cs typeface="Times New Roman" panose="02020603050405020304" pitchFamily="18" charset="0"/>
              </a:rPr>
              <a:t>.</a:t>
            </a:r>
            <a:endParaRPr lang="en-IN" sz="1800" dirty="0">
              <a:solidFill>
                <a:schemeClr val="tx2">
                  <a:lumMod val="10000"/>
                </a:schemeClr>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learn techniques for </a:t>
            </a:r>
            <a:r>
              <a:rPr lang="en-US" sz="1800" b="1" dirty="0">
                <a:latin typeface="Times New Roman" panose="02020603050405020304" pitchFamily="18" charset="0"/>
                <a:cs typeface="Times New Roman" panose="02020603050405020304" pitchFamily="18" charset="0"/>
              </a:rPr>
              <a:t>Image Pre-processing</a:t>
            </a:r>
            <a:r>
              <a:rPr lang="en-US" sz="1800" dirty="0">
                <a:latin typeface="Times New Roman" panose="02020603050405020304" pitchFamily="18" charset="0"/>
                <a:cs typeface="Times New Roman" panose="02020603050405020304" pitchFamily="18" charset="0"/>
              </a:rPr>
              <a:t> and Data Augmentation using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a:t>
            </a:r>
            <a:endParaRPr lang="en-IN" sz="1800" dirty="0">
              <a:solidFill>
                <a:schemeClr val="tx2">
                  <a:lumMod val="10000"/>
                </a:schemeClr>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identify and solve model </a:t>
            </a:r>
            <a:r>
              <a:rPr lang="en-US" sz="1800" b="1" dirty="0">
                <a:latin typeface="Times New Roman" panose="02020603050405020304" pitchFamily="18" charset="0"/>
                <a:cs typeface="Times New Roman" panose="02020603050405020304" pitchFamily="18" charset="0"/>
              </a:rPr>
              <a:t>overfitting</a:t>
            </a:r>
            <a:r>
              <a:rPr lang="en-US" sz="1800" dirty="0">
                <a:latin typeface="Times New Roman" panose="02020603050405020304" pitchFamily="18" charset="0"/>
                <a:cs typeface="Times New Roman" panose="02020603050405020304" pitchFamily="18" charset="0"/>
              </a:rPr>
              <a:t> using Optimization techniques like </a:t>
            </a:r>
            <a:r>
              <a:rPr lang="en-US" sz="1800" b="1" dirty="0">
                <a:latin typeface="Times New Roman" panose="02020603050405020304" pitchFamily="18" charset="0"/>
                <a:cs typeface="Times New Roman" panose="02020603050405020304" pitchFamily="18" charset="0"/>
              </a:rPr>
              <a:t>Dropout</a:t>
            </a:r>
            <a:r>
              <a:rPr lang="en-US" sz="18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To build an end-to-end pipeline for </a:t>
            </a:r>
            <a:r>
              <a:rPr lang="en-US" sz="1800" b="1" dirty="0">
                <a:latin typeface="Times New Roman" panose="02020603050405020304" pitchFamily="18" charset="0"/>
                <a:cs typeface="Times New Roman" panose="02020603050405020304" pitchFamily="18" charset="0"/>
              </a:rPr>
              <a:t>binary image classification</a:t>
            </a:r>
            <a:r>
              <a:rPr lang="en-US" sz="18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goal of this project is to develop a </a:t>
            </a:r>
            <a:r>
              <a:rPr lang="en-US" sz="1800" b="1" dirty="0">
                <a:latin typeface="Times New Roman" panose="02020603050405020304" pitchFamily="18" charset="0"/>
                <a:cs typeface="Times New Roman" panose="02020603050405020304" pitchFamily="18" charset="0"/>
              </a:rPr>
              <a:t>rapid, low-cost, and accessible early-warning system</a:t>
            </a:r>
            <a:r>
              <a:rPr lang="en-US" sz="1800" dirty="0">
                <a:latin typeface="Times New Roman" panose="02020603050405020304" pitchFamily="18" charset="0"/>
                <a:cs typeface="Times New Roman" panose="02020603050405020304" pitchFamily="18" charset="0"/>
              </a:rPr>
              <a:t> for water quality.</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We aim to automate the detection of </a:t>
            </a:r>
            <a:r>
              <a:rPr lang="en-US" sz="1800" b="1" dirty="0">
                <a:latin typeface="Times New Roman" panose="02020603050405020304" pitchFamily="18" charset="0"/>
                <a:cs typeface="Times New Roman" panose="02020603050405020304" pitchFamily="18" charset="0"/>
              </a:rPr>
              <a:t>Harmful Algal Blooms (HABs)</a:t>
            </a:r>
            <a:r>
              <a:rPr lang="en-US" sz="1800" dirty="0">
                <a:latin typeface="Times New Roman" panose="02020603050405020304" pitchFamily="18" charset="0"/>
                <a:cs typeface="Times New Roman" panose="02020603050405020304" pitchFamily="18" charset="0"/>
              </a:rPr>
              <a:t> using computer vision, replacing slow manual testing methods with instant AI analysis.</a:t>
            </a:r>
            <a:endParaRPr lang="en-IN" sz="1800" dirty="0">
              <a:solidFill>
                <a:schemeClr val="tx2">
                  <a:lumMod val="10000"/>
                </a:schemeClr>
              </a:solidFill>
              <a:latin typeface="Times New Roman" panose="02020603050405020304" pitchFamily="18" charset="0"/>
              <a:cs typeface="Times New Roman" panose="02020603050405020304" pitchFamily="18" charset="0"/>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endParaRPr lang="en-IN" sz="2000" b="1" dirty="0">
              <a:solidFill>
                <a:srgbClr val="213163"/>
              </a:solidFill>
            </a:endParaRPr>
          </a:p>
          <a:p>
            <a:r>
              <a:rPr lang="en-IN" sz="2000" b="1" dirty="0">
                <a:solidFill>
                  <a:srgbClr val="213163"/>
                </a:solidFill>
              </a:rPr>
              <a:t> </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3423" y="1450436"/>
            <a:ext cx="8540333" cy="2339102"/>
          </a:xfrm>
          <a:prstGeom prst="rect">
            <a:avLst/>
          </a:prstGeom>
          <a:noFill/>
        </p:spPr>
        <p:txBody>
          <a:bodyPr wrap="square">
            <a:spAutoFit/>
          </a:bodyPr>
          <a:lstStyle/>
          <a:p>
            <a:r>
              <a:rPr lang="en-US" sz="3200" b="1" dirty="0">
                <a:solidFill>
                  <a:srgbClr val="213163"/>
                </a:solidFill>
                <a:latin typeface="Times New Roman" panose="02020603050405020304" pitchFamily="18" charset="0"/>
                <a:cs typeface="Times New Roman" panose="02020603050405020304" pitchFamily="18" charset="0"/>
              </a:rPr>
              <a:t>T</a:t>
            </a:r>
            <a:r>
              <a:rPr lang="en-IN" sz="3200" b="1" dirty="0" err="1">
                <a:solidFill>
                  <a:srgbClr val="213163"/>
                </a:solidFill>
                <a:latin typeface="Times New Roman" panose="02020603050405020304" pitchFamily="18" charset="0"/>
                <a:cs typeface="Times New Roman" panose="02020603050405020304" pitchFamily="18" charset="0"/>
              </a:rPr>
              <a:t>ools</a:t>
            </a:r>
            <a:r>
              <a:rPr lang="en-IN" sz="3200" b="1" dirty="0">
                <a:solidFill>
                  <a:srgbClr val="213163"/>
                </a:solidFill>
                <a:latin typeface="Times New Roman" panose="02020603050405020304" pitchFamily="18" charset="0"/>
                <a:cs typeface="Times New Roman" panose="02020603050405020304" pitchFamily="18" charset="0"/>
              </a:rPr>
              <a:t> and Technology used</a:t>
            </a:r>
          </a:p>
          <a:p>
            <a:endParaRPr lang="en-IN" sz="2400" b="1" dirty="0">
              <a:solidFill>
                <a:srgbClr val="213163"/>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1800" b="1" dirty="0">
                <a:solidFill>
                  <a:schemeClr val="tx2">
                    <a:lumMod val="10000"/>
                  </a:schemeClr>
                </a:solidFill>
                <a:latin typeface="Times New Roman" panose="02020603050405020304" pitchFamily="18" charset="0"/>
                <a:cs typeface="Times New Roman" panose="02020603050405020304" pitchFamily="18" charset="0"/>
              </a:rPr>
              <a:t>Programming Language</a:t>
            </a:r>
            <a:r>
              <a:rPr lang="en-IN" sz="1800" dirty="0">
                <a:solidFill>
                  <a:schemeClr val="tx2">
                    <a:lumMod val="10000"/>
                  </a:schemeClr>
                </a:solidFill>
                <a:latin typeface="Times New Roman" panose="02020603050405020304" pitchFamily="18" charset="0"/>
                <a:cs typeface="Times New Roman" panose="02020603050405020304" pitchFamily="18" charset="0"/>
              </a:rPr>
              <a:t>: Python</a:t>
            </a:r>
          </a:p>
          <a:p>
            <a:pPr marL="3429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Development Environment:</a:t>
            </a:r>
            <a:r>
              <a:rPr lang="en-IN" sz="1800" dirty="0">
                <a:latin typeface="Times New Roman" panose="02020603050405020304" pitchFamily="18" charset="0"/>
                <a:cs typeface="Times New Roman" panose="02020603050405020304" pitchFamily="18" charset="0"/>
              </a:rPr>
              <a:t> Google Colab (Cloud GPU)</a:t>
            </a: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Deep Learning Libraries:</a:t>
            </a:r>
            <a:r>
              <a:rPr lang="en-US" sz="1800" dirty="0">
                <a:latin typeface="Times New Roman" panose="02020603050405020304" pitchFamily="18" charset="0"/>
                <a:cs typeface="Times New Roman" panose="02020603050405020304" pitchFamily="18" charset="0"/>
              </a:rPr>
              <a:t> TensorFlow, </a:t>
            </a:r>
            <a:r>
              <a:rPr lang="en-US" sz="1800" dirty="0" err="1">
                <a:latin typeface="Times New Roman" panose="02020603050405020304" pitchFamily="18" charset="0"/>
                <a:cs typeface="Times New Roman" panose="02020603050405020304" pitchFamily="18" charset="0"/>
              </a:rPr>
              <a:t>Keras</a:t>
            </a:r>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 Handling &amp; Visualization:</a:t>
            </a:r>
            <a:r>
              <a:rPr lang="en-IN" sz="1800" dirty="0">
                <a:latin typeface="Times New Roman" panose="02020603050405020304" pitchFamily="18" charset="0"/>
                <a:cs typeface="Times New Roman" panose="02020603050405020304" pitchFamily="18" charset="0"/>
              </a:rPr>
              <a:t> NumPy, Matplotlib</a:t>
            </a:r>
          </a:p>
          <a:p>
            <a:pPr marL="342900" indent="-342900">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Version Control:</a:t>
            </a:r>
            <a:r>
              <a:rPr lang="en-IN" sz="1800" dirty="0">
                <a:latin typeface="Times New Roman" panose="02020603050405020304" pitchFamily="18" charset="0"/>
                <a:cs typeface="Times New Roman" panose="02020603050405020304" pitchFamily="18" charset="0"/>
              </a:rPr>
              <a:t> Git &amp; GitHub</a:t>
            </a:r>
            <a:endParaRPr lang="en-IN" sz="1800" dirty="0">
              <a:solidFill>
                <a:schemeClr val="tx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9630556" cy="4216539"/>
          </a:xfrm>
          <a:prstGeom prst="rect">
            <a:avLst/>
          </a:prstGeom>
          <a:noFill/>
        </p:spPr>
        <p:txBody>
          <a:bodyPr wrap="square">
            <a:spAutoFit/>
          </a:bodyPr>
          <a:lstStyle/>
          <a:p>
            <a:r>
              <a:rPr lang="en-US" sz="3200" b="1" dirty="0">
                <a:solidFill>
                  <a:srgbClr val="213163"/>
                </a:solidFill>
                <a:latin typeface="Times New Roman" panose="02020603050405020304" pitchFamily="18" charset="0"/>
                <a:cs typeface="Times New Roman" panose="02020603050405020304" pitchFamily="18" charset="0"/>
              </a:rPr>
              <a:t>Methodology</a:t>
            </a:r>
          </a:p>
          <a:p>
            <a:endParaRPr lang="en-US" sz="2000" b="1" dirty="0">
              <a:solidFill>
                <a:srgbClr val="213163"/>
              </a:solidFill>
            </a:endParaRP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Data Collection:</a:t>
            </a:r>
            <a:r>
              <a:rPr lang="en-US" sz="1800" dirty="0">
                <a:latin typeface="Times New Roman" panose="02020603050405020304" pitchFamily="18" charset="0"/>
                <a:cs typeface="Times New Roman" panose="02020603050405020304" pitchFamily="18" charset="0"/>
              </a:rPr>
              <a:t> gathered a custom dataset of raw images for two classes: algae-bloom and </a:t>
            </a:r>
            <a:r>
              <a:rPr lang="en-US" sz="1800" dirty="0" err="1">
                <a:latin typeface="Times New Roman" panose="02020603050405020304" pitchFamily="18" charset="0"/>
                <a:cs typeface="Times New Roman" panose="02020603050405020304" pitchFamily="18" charset="0"/>
              </a:rPr>
              <a:t>healthywater</a:t>
            </a:r>
            <a:r>
              <a:rPr lang="en-US"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Pre-processing:</a:t>
            </a:r>
            <a:r>
              <a:rPr lang="en-US" sz="1800" dirty="0">
                <a:latin typeface="Times New Roman" panose="02020603050405020304" pitchFamily="18" charset="0"/>
                <a:cs typeface="Times New Roman" panose="02020603050405020304" pitchFamily="18" charset="0"/>
              </a:rPr>
              <a:t> Used </a:t>
            </a:r>
            <a:r>
              <a:rPr lang="en-US" sz="1800" dirty="0" err="1">
                <a:latin typeface="Times New Roman" panose="02020603050405020304" pitchFamily="18" charset="0"/>
                <a:cs typeface="Times New Roman" panose="02020603050405020304" pitchFamily="18" charset="0"/>
              </a:rPr>
              <a:t>ImageDataGenerator</a:t>
            </a:r>
            <a:r>
              <a:rPr lang="en-US" sz="1800" dirty="0">
                <a:latin typeface="Times New Roman" panose="02020603050405020304" pitchFamily="18" charset="0"/>
                <a:cs typeface="Times New Roman" panose="02020603050405020304" pitchFamily="18" charset="0"/>
              </a:rPr>
              <a:t> for resizing (150x150px), rescaling (normalization), and data augmentation (rotation/zoom) to increase dataset diversity.</a:t>
            </a:r>
          </a:p>
          <a:p>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Model Building:</a:t>
            </a:r>
            <a:r>
              <a:rPr lang="en-US" sz="1800" dirty="0">
                <a:latin typeface="Times New Roman" panose="02020603050405020304" pitchFamily="18" charset="0"/>
                <a:cs typeface="Times New Roman" panose="02020603050405020304" pitchFamily="18" charset="0"/>
              </a:rPr>
              <a:t> Designed a custom </a:t>
            </a:r>
            <a:r>
              <a:rPr lang="en-US" sz="1800" b="1" dirty="0">
                <a:latin typeface="Times New Roman" panose="02020603050405020304" pitchFamily="18" charset="0"/>
                <a:cs typeface="Times New Roman" panose="02020603050405020304" pitchFamily="18" charset="0"/>
              </a:rPr>
              <a:t>CNN architecture</a:t>
            </a:r>
            <a:r>
              <a:rPr lang="en-US" sz="1800" dirty="0">
                <a:latin typeface="Times New Roman" panose="02020603050405020304" pitchFamily="18" charset="0"/>
                <a:cs typeface="Times New Roman" panose="02020603050405020304" pitchFamily="18" charset="0"/>
              </a:rPr>
              <a:t> from scratch using Conv2D, MaxPooling2D, and Dense layers.</a:t>
            </a:r>
          </a:p>
          <a:p>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Optimization:</a:t>
            </a:r>
            <a:r>
              <a:rPr lang="en-US" sz="1800" dirty="0">
                <a:latin typeface="Times New Roman" panose="02020603050405020304" pitchFamily="18" charset="0"/>
                <a:cs typeface="Times New Roman" panose="02020603050405020304" pitchFamily="18" charset="0"/>
              </a:rPr>
              <a:t> Implemented </a:t>
            </a:r>
            <a:r>
              <a:rPr lang="en-US" sz="1800" b="1" dirty="0">
                <a:latin typeface="Times New Roman" panose="02020603050405020304" pitchFamily="18" charset="0"/>
                <a:cs typeface="Times New Roman" panose="02020603050405020304" pitchFamily="18" charset="0"/>
              </a:rPr>
              <a:t>Dropout layers</a:t>
            </a:r>
            <a:r>
              <a:rPr lang="en-US" sz="1800" dirty="0">
                <a:latin typeface="Times New Roman" panose="02020603050405020304" pitchFamily="18" charset="0"/>
                <a:cs typeface="Times New Roman" panose="02020603050405020304" pitchFamily="18" charset="0"/>
              </a:rPr>
              <a:t> to stabilize the model and prevent overfitting.</a:t>
            </a:r>
          </a:p>
          <a:p>
            <a:endParaRPr lang="en-US" sz="1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Evaluation:</a:t>
            </a:r>
            <a:r>
              <a:rPr lang="en-US" sz="1800" dirty="0">
                <a:latin typeface="Times New Roman" panose="02020603050405020304" pitchFamily="18" charset="0"/>
                <a:cs typeface="Times New Roman" panose="02020603050405020304" pitchFamily="18" charset="0"/>
              </a:rPr>
              <a:t> Trained for 25 epochs and tested on unseen data to ensure reliability.</a:t>
            </a:r>
            <a:endParaRPr lang="en-IN" sz="1800" dirty="0">
              <a:solidFill>
                <a:schemeClr val="tx2">
                  <a:lumMod val="1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3" y="1054412"/>
            <a:ext cx="9292934" cy="1569660"/>
          </a:xfrm>
          <a:prstGeom prst="rect">
            <a:avLst/>
          </a:prstGeom>
          <a:noFill/>
        </p:spPr>
        <p:txBody>
          <a:bodyPr wrap="square">
            <a:spAutoFit/>
          </a:bodyPr>
          <a:lstStyle/>
          <a:p>
            <a:r>
              <a:rPr lang="en-US" sz="3200" b="1" dirty="0">
                <a:solidFill>
                  <a:srgbClr val="213163"/>
                </a:solidFill>
                <a:latin typeface="Times New Roman" panose="02020603050405020304" pitchFamily="18" charset="0"/>
                <a:cs typeface="Times New Roman" panose="02020603050405020304" pitchFamily="18" charset="0"/>
              </a:rPr>
              <a:t>Problem Statement:</a:t>
            </a:r>
          </a:p>
          <a:p>
            <a:endParaRPr lang="en-US" sz="2000" b="1" dirty="0">
              <a:solidFill>
                <a:srgbClr val="213163"/>
              </a:solidFill>
            </a:endParaRPr>
          </a:p>
          <a:p>
            <a:pPr marL="342900" indent="-342900">
              <a:buFont typeface="Arial" panose="020B0604020202020204" pitchFamily="34" charset="0"/>
              <a:buChar char="•"/>
            </a:pPr>
            <a:endParaRPr lang="en-US" sz="2400" dirty="0">
              <a:solidFill>
                <a:schemeClr val="tx2">
                  <a:lumMod val="10000"/>
                </a:schemeClr>
              </a:solidFill>
              <a:latin typeface="Times New Roman" panose="02020603050405020304" pitchFamily="18" charset="0"/>
              <a:cs typeface="Times New Roman" panose="02020603050405020304" pitchFamily="18" charset="0"/>
            </a:endParaRPr>
          </a:p>
          <a:p>
            <a:r>
              <a:rPr lang="en-US" sz="2000" b="1" dirty="0">
                <a:solidFill>
                  <a:srgbClr val="213163"/>
                </a:solidFill>
              </a:rPr>
              <a:t>  </a:t>
            </a:r>
            <a:endParaRPr lang="en-IN" sz="2000" b="1" dirty="0">
              <a:solidFill>
                <a:srgbClr val="213163"/>
              </a:solidFill>
            </a:endParaRPr>
          </a:p>
        </p:txBody>
      </p:sp>
      <p:sp>
        <p:nvSpPr>
          <p:cNvPr id="2" name="Rectangle 1">
            <a:extLst>
              <a:ext uri="{FF2B5EF4-FFF2-40B4-BE49-F238E27FC236}">
                <a16:creationId xmlns:a16="http://schemas.microsoft.com/office/drawing/2014/main" id="{43B236D3-49E2-E903-1574-17CB937C144A}"/>
              </a:ext>
            </a:extLst>
          </p:cNvPr>
          <p:cNvSpPr>
            <a:spLocks noChangeArrowheads="1"/>
          </p:cNvSpPr>
          <p:nvPr/>
        </p:nvSpPr>
        <p:spPr bwMode="auto">
          <a:xfrm>
            <a:off x="255103" y="1562244"/>
            <a:ext cx="1035934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Issue: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water quality monitoring is manual, expensive, and slow.</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Risk: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Harmful Algal Blooms (HABs) are toxic to wildlife and humans. Delays in lab testing mean warnings often come too late to prevent ecological damage.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Gap: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There is currently no easy way for a non-expert (like a park ranger or citizen) to instantly check a water body for potential blooms using just a photograph.</a:t>
            </a: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9197240" cy="1200329"/>
          </a:xfrm>
          <a:prstGeom prst="rect">
            <a:avLst/>
          </a:prstGeom>
          <a:noFill/>
        </p:spPr>
        <p:txBody>
          <a:bodyPr wrap="square">
            <a:spAutoFit/>
          </a:bodyPr>
          <a:lstStyle/>
          <a:p>
            <a:r>
              <a:rPr lang="en-US" sz="3200" b="1" dirty="0">
                <a:solidFill>
                  <a:srgbClr val="213163"/>
                </a:solidFill>
                <a:latin typeface="Times New Roman" panose="02020603050405020304" pitchFamily="18" charset="0"/>
                <a:cs typeface="Times New Roman" panose="02020603050405020304" pitchFamily="18" charset="0"/>
              </a:rPr>
              <a:t>Solution:  </a:t>
            </a:r>
          </a:p>
          <a:p>
            <a:endParaRPr lang="en-US" sz="2000" b="1" dirty="0">
              <a:solidFill>
                <a:srgbClr val="213163"/>
              </a:solidFill>
            </a:endParaRPr>
          </a:p>
          <a:p>
            <a:endParaRPr lang="en-US" sz="2000" b="1" dirty="0">
              <a:solidFill>
                <a:srgbClr val="213163"/>
              </a:solidFill>
            </a:endParaRPr>
          </a:p>
        </p:txBody>
      </p:sp>
      <p:sp>
        <p:nvSpPr>
          <p:cNvPr id="2" name="Rectangle 1">
            <a:extLst>
              <a:ext uri="{FF2B5EF4-FFF2-40B4-BE49-F238E27FC236}">
                <a16:creationId xmlns:a16="http://schemas.microsoft.com/office/drawing/2014/main" id="{EB4F422A-7709-710B-3650-AD64197EE946}"/>
              </a:ext>
            </a:extLst>
          </p:cNvPr>
          <p:cNvSpPr>
            <a:spLocks noChangeArrowheads="1"/>
          </p:cNvSpPr>
          <p:nvPr/>
        </p:nvSpPr>
        <p:spPr bwMode="auto">
          <a:xfrm rot="10800000" flipV="1">
            <a:off x="255104" y="1820822"/>
            <a:ext cx="1170154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Custom Convolutional Neural Network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Digital images resized to 150x150 pixels.</a:t>
            </a:r>
            <a:endParaRPr lang="en-US" altLang="en-US" sz="1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Architecture: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Convolutional Blocks (to detect features like color and texture).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MaxPooling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layers (to reduce computational load).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Dropout Layers (30% &amp; 50%)</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(Added during Week 3 optimization to fix overfitting).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binary probability score (Sigmoid activation).</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A88C72-3E56-6016-4873-D997F0113FF8}"/>
              </a:ext>
            </a:extLst>
          </p:cNvPr>
          <p:cNvSpPr txBox="1"/>
          <p:nvPr/>
        </p:nvSpPr>
        <p:spPr>
          <a:xfrm>
            <a:off x="115746" y="767718"/>
            <a:ext cx="11609408" cy="872098"/>
          </a:xfrm>
          <a:prstGeom prst="rect">
            <a:avLst/>
          </a:prstGeom>
          <a:noFill/>
        </p:spPr>
        <p:txBody>
          <a:bodyPr wrap="square" rtlCol="0">
            <a:spAutoFit/>
          </a:bodyPr>
          <a:lstStyle/>
          <a:p>
            <a:r>
              <a:rPr lang="en-US" sz="3200" b="1" dirty="0">
                <a:solidFill>
                  <a:srgbClr val="213163"/>
                </a:solidFill>
                <a:latin typeface="Times New Roman" panose="02020603050405020304" pitchFamily="18" charset="0"/>
                <a:cs typeface="Times New Roman" panose="02020603050405020304" pitchFamily="18" charset="0"/>
              </a:rPr>
              <a:t>Solution:  </a:t>
            </a:r>
          </a:p>
          <a:p>
            <a:endParaRPr lang="en-IN" dirty="0"/>
          </a:p>
        </p:txBody>
      </p:sp>
      <p:pic>
        <p:nvPicPr>
          <p:cNvPr id="4" name="Picture 3">
            <a:extLst>
              <a:ext uri="{FF2B5EF4-FFF2-40B4-BE49-F238E27FC236}">
                <a16:creationId xmlns:a16="http://schemas.microsoft.com/office/drawing/2014/main" id="{B31EE813-8C57-3737-9744-CFE5867F502B}"/>
              </a:ext>
            </a:extLst>
          </p:cNvPr>
          <p:cNvPicPr>
            <a:picLocks noChangeAspect="1"/>
          </p:cNvPicPr>
          <p:nvPr/>
        </p:nvPicPr>
        <p:blipFill>
          <a:blip r:embed="rId2"/>
          <a:stretch>
            <a:fillRect/>
          </a:stretch>
        </p:blipFill>
        <p:spPr>
          <a:xfrm>
            <a:off x="1747776" y="1324181"/>
            <a:ext cx="8345347" cy="4209638"/>
          </a:xfrm>
          <a:prstGeom prst="rect">
            <a:avLst/>
          </a:prstGeom>
        </p:spPr>
      </p:pic>
      <p:sp>
        <p:nvSpPr>
          <p:cNvPr id="6" name="TextBox 5">
            <a:extLst>
              <a:ext uri="{FF2B5EF4-FFF2-40B4-BE49-F238E27FC236}">
                <a16:creationId xmlns:a16="http://schemas.microsoft.com/office/drawing/2014/main" id="{45168172-34CF-8135-BA6B-A629467555EB}"/>
              </a:ext>
            </a:extLst>
          </p:cNvPr>
          <p:cNvSpPr txBox="1"/>
          <p:nvPr/>
        </p:nvSpPr>
        <p:spPr>
          <a:xfrm>
            <a:off x="881121" y="5695865"/>
            <a:ext cx="10078656" cy="954300"/>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Observation:</a:t>
            </a:r>
            <a:r>
              <a:rPr lang="en-US" sz="1800" dirty="0">
                <a:latin typeface="Times New Roman" panose="02020603050405020304" pitchFamily="18" charset="0"/>
                <a:cs typeface="Times New Roman" panose="02020603050405020304" pitchFamily="18" charset="0"/>
              </a:rPr>
              <a:t> The graphs demonstrate that the Optimized Model is stable. The Training and Validation lines are close together, indicating the model has learned to generalize well and is not just memorizing the data.</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6472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20380" y="1054412"/>
            <a:ext cx="6102626" cy="584775"/>
          </a:xfrm>
          <a:prstGeom prst="rect">
            <a:avLst/>
          </a:prstGeom>
          <a:noFill/>
        </p:spPr>
        <p:txBody>
          <a:bodyPr wrap="square">
            <a:spAutoFit/>
          </a:bodyPr>
          <a:lstStyle/>
          <a:p>
            <a:r>
              <a:rPr lang="en-US" sz="3200" b="1" dirty="0">
                <a:solidFill>
                  <a:srgbClr val="213163"/>
                </a:solidFill>
                <a:latin typeface="Times New Roman" panose="02020603050405020304" pitchFamily="18" charset="0"/>
                <a:cs typeface="Times New Roman" panose="02020603050405020304" pitchFamily="18" charset="0"/>
              </a:rPr>
              <a:t>Screenshot of Output:  </a:t>
            </a:r>
            <a:endParaRPr lang="en-IN" sz="3200" b="1" dirty="0">
              <a:solidFill>
                <a:srgbClr val="213163"/>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D404ECC-A689-7B69-65DC-DE10C362F186}"/>
              </a:ext>
            </a:extLst>
          </p:cNvPr>
          <p:cNvPicPr>
            <a:picLocks noChangeAspect="1"/>
          </p:cNvPicPr>
          <p:nvPr/>
        </p:nvPicPr>
        <p:blipFill>
          <a:blip r:embed="rId2"/>
          <a:stretch>
            <a:fillRect/>
          </a:stretch>
        </p:blipFill>
        <p:spPr>
          <a:xfrm>
            <a:off x="1666754" y="1639187"/>
            <a:ext cx="8597586" cy="4379648"/>
          </a:xfrm>
          <a:prstGeom prst="rect">
            <a:avLst/>
          </a:prstGeom>
        </p:spPr>
      </p:pic>
      <p:sp>
        <p:nvSpPr>
          <p:cNvPr id="7" name="TextBox 6">
            <a:extLst>
              <a:ext uri="{FF2B5EF4-FFF2-40B4-BE49-F238E27FC236}">
                <a16:creationId xmlns:a16="http://schemas.microsoft.com/office/drawing/2014/main" id="{27944316-6583-5196-3717-49A2843DB927}"/>
              </a:ext>
            </a:extLst>
          </p:cNvPr>
          <p:cNvSpPr txBox="1"/>
          <p:nvPr/>
        </p:nvSpPr>
        <p:spPr>
          <a:xfrm>
            <a:off x="1074516" y="6018835"/>
            <a:ext cx="9450730" cy="666977"/>
          </a:xfrm>
          <a:prstGeom prst="rect">
            <a:avLst/>
          </a:prstGeom>
          <a:noFill/>
        </p:spPr>
        <p:txBody>
          <a:bodyPr wrap="square">
            <a:spAutoFit/>
          </a:bodyPr>
          <a:lstStyle/>
          <a:p>
            <a:pPr algn="ctr"/>
            <a:r>
              <a:rPr lang="en-US" sz="1800" b="1" dirty="0">
                <a:latin typeface="Times New Roman" panose="02020603050405020304" pitchFamily="18" charset="0"/>
                <a:cs typeface="Times New Roman" panose="02020603050405020304" pitchFamily="18" charset="0"/>
              </a:rPr>
              <a:t>Description:</a:t>
            </a:r>
            <a:r>
              <a:rPr lang="en-US" sz="1800" dirty="0">
                <a:latin typeface="Times New Roman" panose="02020603050405020304" pitchFamily="18" charset="0"/>
                <a:cs typeface="Times New Roman" panose="02020603050405020304" pitchFamily="18" charset="0"/>
              </a:rPr>
              <a:t> The model successfully loaded the saved .h5 file, processed a completely new, unseen image, and correctly identified it as an Algae Bloom with high confidence</a:t>
            </a:r>
            <a:r>
              <a:rPr lang="en-US" dirty="0"/>
              <a:t>.</a:t>
            </a:r>
            <a:endParaRPr lang="en-IN" dirty="0"/>
          </a:p>
        </p:txBody>
      </p:sp>
    </p:spTree>
    <p:extLst>
      <p:ext uri="{BB962C8B-B14F-4D97-AF65-F5344CB8AC3E}">
        <p14:creationId xmlns:p14="http://schemas.microsoft.com/office/powerpoint/2010/main" val="163594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8399490" cy="892552"/>
          </a:xfrm>
          <a:prstGeom prst="rect">
            <a:avLst/>
          </a:prstGeom>
          <a:noFill/>
        </p:spPr>
        <p:txBody>
          <a:bodyPr wrap="square">
            <a:spAutoFit/>
          </a:bodyPr>
          <a:lstStyle/>
          <a:p>
            <a:r>
              <a:rPr lang="en-US" sz="3200" b="1" dirty="0">
                <a:solidFill>
                  <a:srgbClr val="213163"/>
                </a:solidFill>
                <a:latin typeface="Times New Roman" panose="02020603050405020304" pitchFamily="18" charset="0"/>
                <a:cs typeface="Times New Roman" panose="02020603050405020304" pitchFamily="18" charset="0"/>
              </a:rPr>
              <a:t>Conclusion:</a:t>
            </a:r>
          </a:p>
          <a:p>
            <a:endParaRPr lang="en-US" sz="2000" b="1" dirty="0">
              <a:solidFill>
                <a:srgbClr val="213163"/>
              </a:solidFill>
            </a:endParaRPr>
          </a:p>
        </p:txBody>
      </p:sp>
      <p:sp>
        <p:nvSpPr>
          <p:cNvPr id="2" name="Rectangle 1">
            <a:extLst>
              <a:ext uri="{FF2B5EF4-FFF2-40B4-BE49-F238E27FC236}">
                <a16:creationId xmlns:a16="http://schemas.microsoft.com/office/drawing/2014/main" id="{D2536D26-E383-7187-ECFB-182A1818B3ED}"/>
              </a:ext>
            </a:extLst>
          </p:cNvPr>
          <p:cNvSpPr>
            <a:spLocks noChangeArrowheads="1"/>
          </p:cNvSpPr>
          <p:nvPr/>
        </p:nvSpPr>
        <p:spPr bwMode="auto">
          <a:xfrm rot="10800000" flipV="1">
            <a:off x="149087" y="1951673"/>
            <a:ext cx="1149504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Achievement: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Successfully built and trained a CNN that detects Algae Blooms with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&gt;93% accuracy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Impact: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solution proves that AI can provide a viable, low-cost alternative to initial manual testing.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Future Scope: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model can be deployed to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embedded on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drone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allowing for real-time monitoring of large lakes and reservoirs.</a:t>
            </a: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110</TotalTime>
  <Words>543</Words>
  <Application>Microsoft Office PowerPoint</Application>
  <PresentationFormat>Widescreen</PresentationFormat>
  <Paragraphs>70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Times New Roman</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Avanish Sawant</cp:lastModifiedBy>
  <cp:revision>5</cp:revision>
  <dcterms:created xsi:type="dcterms:W3CDTF">2024-12-31T09:40:01Z</dcterms:created>
  <dcterms:modified xsi:type="dcterms:W3CDTF">2025-11-16T18:32:36Z</dcterms:modified>
</cp:coreProperties>
</file>